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57200"/>
          </a:xfrm>
          <a:prstGeom prst="roundRect">
            <a:avLst/>
          </a:prstGeom>
          <a:solidFill>
            <a:srgbClr val="6B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⚡ سند AI — SANAD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الخطة الاستراتيجية وتحليل السوق</a:t>
            </a:r>
          </a:p>
          <a:p>
            <a:pPr algn="ctr">
              <a:defRPr sz="1800" b="1">
                <a:solidFill>
                  <a:srgbClr val="9B59FF"/>
                </a:solidFill>
                <a:latin typeface="Arial"/>
              </a:defRPr>
            </a:pPr>
            <a:r>
              <a:t>تحليل SWOT • دراسة المنافسين • أهداف الكوارتر القادم (OKRs)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B9"/>
                </a:solidFill>
                <a:latin typeface="Arial"/>
              </a:defRPr>
            </a:pPr>
            <a:r>
              <a:t>المساعد الذكي المتكامل لمتاجر سلة والتجارة الإلكترونية السعودية</a:t>
            </a:r>
            <a:br/>
            <a:r>
              <a:t>إعداد وتطوير: فريق إدارة وتطوير الأعمال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نظرة عامة •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رؤية منصة سند وموقعها في السوق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تمكين متاجر التجارة الإلكترونية السعودية من أتمتة خدمة العملاء والمبيعات بكفاءة تفوق 98%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🎯 الرؤية الاستراتيجية</a:t>
            </a:r>
          </a:p>
          <a:p>
            <a:br/>
            <a:pPr>
              <a:defRPr sz="1300">
                <a:solidFill>
                  <a:srgbClr val="A0A0B9"/>
                </a:solidFill>
                <a:latin typeface="Arial"/>
              </a:defRPr>
            </a:pPr>
            <a:r>
              <a:t>أن نكون المنصة السحابية رقم #1 في المملكة والخليج لأتمتة عمليات خدمة العملاء والمبيعات ومتابعة الشحن لمتاجر سلة وزد بالذكاء الاصطناعي.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💡 القيمة المضافة للتاجر</a:t>
            </a:r>
          </a:p>
          <a:p>
            <a:br/>
            <a:pPr>
              <a:defRPr sz="1300">
                <a:solidFill>
                  <a:srgbClr val="A0A0B9"/>
                </a:solidFill>
                <a:latin typeface="Arial"/>
              </a:defRPr>
            </a:pPr>
            <a:r>
              <a:t>توفير أكثر من 40 ساعة عمل أسبوعياً، وخفض تكاليف التوظيف بنسبة 70%، مع رفع سرعة الاستجابة للعملاء إلى أقل من 1.2 ثانية على مدار الساعة.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🚀 النمو المستهدف</a:t>
            </a:r>
          </a:p>
          <a:p>
            <a:br/>
            <a:pPr>
              <a:defRPr sz="1300">
                <a:solidFill>
                  <a:srgbClr val="A0A0B9"/>
                </a:solidFill>
                <a:latin typeface="Arial"/>
              </a:defRPr>
            </a:pPr>
            <a:r>
              <a:t>مضاعفة قاعدة المتاجر النشطة، وتوسيع الشراكات مع منصات التجارة الإلكترونية وشركات الشحن الكبرى لتعزيز الحصة السوقية.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التحليل الاستراتيجي • SWOT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مصفوفة تحليل SWOT لمنصة سند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تقييم دقيق لنقاط القوة والضعف الداخلية والفرص والتهديدات الخارجية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💪 نقاط القوة (STRENGTHS)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تكامل مباشر مع سلة وشركات الشحن (SMSA, Aramex, OTO)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دعم كامل وفائق للهجة والسياق المحلي السعودي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قاعدة معرفة صارمة (Zero Hallucination) بدون هلوسة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صندوق وارد موحد يدمج واتساب ويب وانستغرام وسلة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تكلفة تشغيلية منخفضة وهوامش ربح سحابية عالية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⚠️ نقاط الضعف (WEAKNESSES)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علامة تجارية حديثة العهد مقارنة بالشركات العالمية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الاعتماد الحالي على WhatsApp Web قبل اعتماد Cloud API الرسمي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الحاجة لإضافة تكاملات شحن إضافية (DHL, J&amp;T)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محدودية فريق المبيعات المباشر في المرحلة الحالية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9B5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9B59FF"/>
                </a:solidFill>
                <a:latin typeface="Arial"/>
              </a:defRPr>
            </a:pPr>
            <a:r>
              <a:t>🚀 الفرص السوقية (OPPORTUNITIES)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سوق ضخم متسارع يضم أكثر من 50,000 متجر على سلة وزد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ارتفاع تكلفة موظفي خدمة العملاء في السعودية (&gt;4,000 ر.س)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التوسع لدعم منصة زد (Zid) ومنصة شوبيفاي (Shopify)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إطلاق ميزة استرداد السلات المتروكة لزيادة مبيعات التاجر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بناء برنامج شركاء مع وكالات إدارة المتاجر والتسويق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🛡️ التهديدات والتحديات (THREATS)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دخول منصات عالمية (Wati / ManyChat) للشرق الأوسط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تغييرات محتملة في سياسات Meta و WhatsApp API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حرب أسعار من أدوات الشات بوت التقليدية منخفضة الجودة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تراجع وعي بعض التجار بقدرات الذكاء الاصطناعي الحديث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المشهد التنافسي •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تحليل ومقارنة المنافسين في السوق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مقارنة سند مع الحلول العالمية والتقليدية والموظف البشري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معيار المقارنة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⚡ سند (Sanad AI)</a:t>
                      </a:r>
                    </a:p>
                  </a:txBody>
                  <a:tcPr anchor="ctr">
                    <a:solidFill>
                      <a:srgbClr val="6B0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🌐 شات بوت عالمي (Wati/ManyChat)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🏢 أنظمة تقليدية (Zendesk/Intercom)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👤 الموظف البشري التقليدي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الربط المباشر بسلة والشحن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499FF"/>
                          </a:solidFill>
                          <a:latin typeface="Arial"/>
                        </a:defRPr>
                      </a:pPr>
                      <a:r>
                        <a:t>✅ مدمج ومباشر ولحظي</a:t>
                      </a:r>
                    </a:p>
                  </a:txBody>
                  <a:tcPr anchor="ctr">
                    <a:solidFill>
                      <a:srgbClr val="1E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يتطلب وسيط مثل Zapier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❌ معقد ويحتاج مبرمجين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⚠️ يدوي وبطيء مع أخطاء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فهم اللهجة والسياق السعودي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499FF"/>
                          </a:solidFill>
                          <a:latin typeface="Arial"/>
                        </a:defRPr>
                      </a:pPr>
                      <a:r>
                        <a:t>✅ ذكاء لغوي متقدم 100%</a:t>
                      </a:r>
                    </a:p>
                  </a:txBody>
                  <a:tcPr anchor="ctr">
                    <a:solidFill>
                      <a:srgbClr val="1E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⚠️ روبوت بقوالب جامدة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⚠️ ترجمة آلية ضعيفة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✅ فهم ممتاز لكن محدود بالوقت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سرعة الاستجابة والتغطية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499FF"/>
                          </a:solidFill>
                          <a:latin typeface="Arial"/>
                        </a:defRPr>
                      </a:pPr>
                      <a:r>
                        <a:t>⚡ 1.2 ثانية • على مدار 24/7</a:t>
                      </a:r>
                    </a:p>
                  </a:txBody>
                  <a:tcPr anchor="ctr">
                    <a:solidFill>
                      <a:srgbClr val="1E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⏱️ فوري لكن إجابات محدودة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⏱️ ساعات في الدعم العادي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⏳ 15-45 دقيقة (8 ساعات فقط)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التكلفة الشهرية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C499FF"/>
                          </a:solidFill>
                          <a:latin typeface="Arial"/>
                        </a:defRPr>
                      </a:pPr>
                      <a:r>
                        <a:t>💰 تبدأ من 149 ر.س فقط</a:t>
                      </a:r>
                    </a:p>
                  </a:txBody>
                  <a:tcPr anchor="ctr">
                    <a:solidFill>
                      <a:srgbClr val="1E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💳 تبدأ من 400+ ر.س (قوالب)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💳 مكلفة جداً (&gt;1,500 ر.س)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💸 راتب 3,500 - 5,000 ر.س</a:t>
                      </a:r>
                    </a:p>
                  </a:txBody>
                  <a:tcPr anchor="ctr">
                    <a:solidFill>
                      <a:srgbClr val="141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الميزة التنافسية • 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ما الذي يجعل (سند) الخيار الأول لمتجر سلة؟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3 ركائز أساسية تمنح سند ميزة تنافسية مستدامة يصعب تقليدها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🇸🇦 التخصيص الكامل للسوق السعودي</a:t>
            </a:r>
          </a:p>
          <a:p>
            <a:br/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بناء النموذج اللغوي ليفهم مصطلحات التجارة السعودية (شحن سمسا، تقسيط تابي وتمارا، استبدال، استرجاع، مقاسات العبايات والأزياء)، مما يرفع ثقة العميل بنسبة 99%.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⚡ التفعيل الفوري (Plug &amp; Play)</a:t>
            </a:r>
          </a:p>
          <a:p>
            <a:br/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بدون أي خبرة برمجية أو إعدادات معقدة؛ التاجر يربط متجره على سلة وواتساب في أقل من 5 دقائق ويبدأ المساعد في العمل فوراً وبشكل ذاتي.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📈 عائد استثماري مباشر (High ROI)</a:t>
            </a:r>
          </a:p>
          <a:p>
            <a:br/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سند لا يكتفي بالرد على الشكاوى؛ بل يسترد السلات المتروكة، ويقترح المنتجات البديلة، ويوفر أكثر من 3,500 ريال شهرياً على التاجر من أول أسبوع.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الأهداف الاستراتيجية • NEXT QUARTER OKRs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أهداف ومؤشرات أداء الكوارتر القادم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خارطة طريق واضحة وقابلة للقياس لتحقيق قفزة نوعية في النمو والإيرادات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6B00FF"/>
                </a:solidFill>
                <a:latin typeface="Arial"/>
              </a:defRPr>
            </a:pPr>
            <a:r>
              <a:t>📈 الهدف 1: النمو واكتساب المتاجر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الوصول إلى 350+ متجر سلة نشط ومشترك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تحقيق نسبة نمو شهري في الاشتراكات (MoM) لا تقل عن 25%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زيادة معدل تحويل التجربة المجانية إلى اشتراك مدفوع إلى 35%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💰 الهدف 2: الأداء المالي والإيرادات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تحقيق 120,000 ريال إيراد شهري متكرر (MRR)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رفع متوسط قيمة الاشتراك للمتجر عبر باقة Pro (349 ر.س)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الحفاظ على معدل الإلغاء (Churn Rate) أقل من 3% شهرياً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⚙️ الهدف 3: تطوير المنتج والذكاء الاصطناعي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خفض زمن الاستجابة إلى أقل من 0.9 ثانية لكل رسالة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رفع دقة استعلامات الشحن والمخزون إلى 99.7%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إطلاق محرك استرداد السلات المتروكة الذكي بنسبة استرداد &gt;18%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2148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 rIns="182880"/>
          <a:lstStyle/>
          <a:p>
            <a:pPr algn="ctr">
              <a:defRPr sz="1300" b="1">
                <a:solidFill>
                  <a:srgbClr val="3B82F6"/>
                </a:solidFill>
                <a:latin typeface="Arial"/>
              </a:defRPr>
            </a:pPr>
            <a:r>
              <a:t>🤝 الهدف 4: التوسع والشراكات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إطلاق الربط الرسمي مع منصة زد (Zid Integration)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تفعيل الربط المباشر مع WhatsApp Cloud API الرسمي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✔ بناء 10 شراكات استراتيجية مع وكالات إدارة المتاجر الإلكترونية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خارطة طريق التنفيذ •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الجدول الزمني ومراحل التنفيذ خلال الكوارتر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توزيع المهام والمستهدفات على مدار 3 أشهر لضمان التنفيذ الدقيق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400" b="1">
                <a:solidFill>
                  <a:srgbClr val="6B00FF"/>
                </a:solidFill>
                <a:latin typeface="Arial"/>
              </a:defRPr>
            </a:pPr>
            <a:r>
              <a:t>الشهر الأول (Month 1)</a:t>
            </a:r>
            <a:br/>
            <a:r>
              <a:t>التركيز على الانتشار والتحسين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إطلاق حملة تسويقية تستهدف متاجر سلة الأكثر مبيعاً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تحسين واجهة المستخدم وتجربة التسجيل في 1-Click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رفع كفاءة تتبع شحنات سمسا وأرامكس وأوتو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الهدف: الوصول إلى 150 متجر نشط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الشهر الثاني (Month 2)</a:t>
            </a:r>
            <a:br/>
            <a:r>
              <a:t>التوسع في الميزات والمنصات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إطلاق تكامل منصة زد (Zid) رسمياً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تفعيل ميزة استرداد السلات المتروكة للواتساب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إطلاق حملات إعادة الاستهداف وعروض الدفع السنوي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الهدف: الوصول إلى 250 متجر نشط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الشهر الثالث (Month 3)</a:t>
            </a:r>
            <a:br/>
            <a:r>
              <a:t>الشراكات والترقية المؤسسية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تدشين برنامج الشركاء والمسوقين بالعمولة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إطلاق الباقة المؤسسية (Enterprise) للبراندات الكبرى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مراجعة شاملة لنسب الرضا ومعدلات الإلغاء</a:t>
            </a:r>
          </a:p>
          <a:p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• الهدف: تجاوز 350 متجر و 120k MRR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20040"/>
          </a:xfrm>
          <a:prstGeom prst="roundRect">
            <a:avLst/>
          </a:prstGeom>
          <a:solidFill>
            <a:srgbClr val="141424"/>
          </a:solidFill>
          <a:ln w="1270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499FF"/>
                </a:solidFill>
                <a:latin typeface="Arial"/>
              </a:defRPr>
            </a:pPr>
            <a:r>
              <a:t>الخاتمة والتوصيات • 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أهم التوصيات لتسريع النمو وتحقيق الأهداف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خطة العمل الفورية لفرق التسويق، المنتج، والمبيعات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91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6B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🎯 تسويق موجه ومكثف</a:t>
            </a:r>
          </a:p>
          <a:p>
            <a:br/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التركيز على إبراز التوفير المالي (ROI) وسرعة استجابة سند في المحتوى التسويقي لمجتمعات تجار سلة وزد.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3291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💎 تجربة عميل استثنائية</a:t>
            </a:r>
          </a:p>
          <a:p>
            <a:br/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المتابعة الاستباقية مع كل متجر خلال فترة الـ 14 يوماً المجانية لضمان الربط الناجح وتحقيق أعلى نسبة تحويل للاشتراك.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383280" cy="3291840"/>
          </a:xfrm>
          <a:prstGeom prst="roundRect">
            <a:avLst/>
          </a:prstGeom>
          <a:solidFill>
            <a:srgbClr val="1414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🚀 التطوير المستمر للذكاء الاصطناعي</a:t>
            </a:r>
          </a:p>
          <a:p>
            <a:br/>
            <a:pPr>
              <a:defRPr sz="1200">
                <a:solidFill>
                  <a:srgbClr val="A0A0B9"/>
                </a:solidFill>
                <a:latin typeface="Arial"/>
              </a:defRPr>
            </a:pPr>
            <a:r>
              <a:t>تغذية النماذج ببيانات متجددة من قطاع التجارة الإلكترونية لضمان بقاء سند الأذكى والأكثر دقة في السوق السعودي.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6B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✨ سند (Sanad AI) — شريكك الذكي للريادة في التجارة الإلكترونية السعودية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